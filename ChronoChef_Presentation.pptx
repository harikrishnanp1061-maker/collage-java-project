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483934" cy="685800"/>
          </a:xfrm>
          <a:prstGeom prst="rect">
            <a:avLst/>
          </a:prstGeom>
        </p:spPr>
      </p:pic>
      <p:pic>
        <p:nvPicPr>
          <p:cNvPr id="5" name="Picture 4" descr="college_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502920"/>
            <a:ext cx="1865041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594360"/>
            <a:ext cx="70710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MARIAN ENGINEERING COLLEGE, THIRUVANANTHAPURAM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DEPARTMENT OF ARTIFICIAL INTELLIGENCE &amp; 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362895" cy="2377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9971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CHRONOCHEF: SMART DYNAMIC PRICING &amp;</a:t>
            </a:r>
            <a:br/>
            <a:r>
              <a:t>EXPIRY TRACKER FOR FOOD BANKS</a:t>
            </a:r>
          </a:p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Course: PBCST304 — Object Oriented Programming (Third Semester B.Tech Project)</a:t>
            </a:r>
          </a:p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Prescribed by APJ Abdul Kalam Technological University (KTU), Kerala | Academic Year 2025–2026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49377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SUBMITTED BY: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• Harikrishnan &amp; Project Batch Members</a:t>
            </a:r>
            <a:br/>
            <a:r>
              <a:t>• Third Semester, B.Tech AI &amp; ML</a:t>
            </a:r>
            <a:br/>
            <a:r>
              <a:t>• Marian Engineering College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4480560"/>
            <a:ext cx="49377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UNDER THE SUPERVISION &amp; GUIDANCE OF: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Ms. Renetha J B</a:t>
            </a:r>
            <a:br/>
            <a:r>
              <a:t>Assistant Professor, Dept. of Computer Science &amp; Engineering</a:t>
            </a:r>
            <a:br/>
            <a:r>
              <a:t>Marian Engineering College, Thiruvananthapuram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OVERVIEW &amp; ROADMAP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82296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45920"/>
            <a:ext cx="3749040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Introduction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Problem statement, food bank challenges, and modern software-driven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82296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1645920"/>
            <a:ext cx="3749040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Objectives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Core goals: automated inventory tracking, zero food waste, and food safety guarantees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51206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82296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91840"/>
            <a:ext cx="3749040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Requirement Specification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Detailed hardware platform parameters, OS, Java Runtime, SQLite, and libraries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108960"/>
            <a:ext cx="51206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3337560"/>
            <a:ext cx="82296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291840"/>
            <a:ext cx="3749040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Design Document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System MVC architecture, Object-Oriented Class Hierarchy, and SQLite Database ER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82296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937760"/>
            <a:ext cx="3749040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Results &amp; Outputs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Comprehensive visual walkthrough across all 5 Swing modules with output screenshots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754880"/>
            <a:ext cx="51206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983480"/>
            <a:ext cx="82296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937760"/>
            <a:ext cx="3749040" cy="10058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Conclusion &amp; Future Work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Summary of achievements, KTU OOP syllabus mapping, social impact, and future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1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1. Introduction: Problem Statement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Food Insecurity vs Waste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Millions of tons of edible food are discarded annually due to unorganized manual tracking in charity food banks.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Static pricing creates bottlenecks: items sit on shelves until expiration instead of being subsidized.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Manual paper or spreadsheet logs lead to accidental distribution of expired products.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Lack of real-time inventory visibility and automated prioritization mechanisms.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THE SOLUTION</a:t>
            </a:r>
          </a:p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ChronoChef Platform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 desktop-based Java application developed using Model-View-Controller (MVC) architecture.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Centralized SQLite Database serving as the single source of truth for food donations.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Priority Distribution Index (PDI) algorithm that ranks items continuously based on urgency.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Automated Dynamic Subsidy Pricing Tier making expiring food 50% subsidized or 100% Free.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KEY INNOVATIONS</a:t>
            </a:r>
          </a:p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Core Innovations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Algorithmic Sorting: Bubble Sort prioritizes critical batches at the top of the interface.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Food Safety Guard: Custom Java Exception strictly blocks checkout of expired goods.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Instant Subsidy Billing: Generates itemized transparent distribution receipts for shelters.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Sustainability Impact: Direct contribution to UN Sustainable Development Goal (SDG 12.3: Zero Hunger &amp; Reduced Food Waste).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2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2. Aim and Specific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PROJECT AIM:</a:t>
            </a:r>
          </a:p>
          <a:p>
            <a:pPr>
              <a:defRPr sz="1300" b="1">
                <a:solidFill>
                  <a:srgbClr val="1E293B"/>
                </a:solidFill>
                <a:latin typeface="Arial"/>
              </a:defRPr>
            </a:pPr>
            <a:r>
              <a:t>To design and implement an intelligent, object-oriented desktop application for community food banks that tracks food shelf-life, automates dynamic pricing subsidies, and prevents food wastage while upholding strict food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1. Centralized Inventory Management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Develop an intuitive Java Swing GUI backed by SQLite to record, validate, update, and categorize perishable and packaged food donations with full transactional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346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2. Real-Time Expiry &amp; PDI Computation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Formulate and deploy the Priority Distribution Index (PDI) scoring formula (0–100) to classify food urgency into Immediate/Urgent, High, Medium, and Low tiers dynamically.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0916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3. Rule-Based Dynamic Subsidy Engine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Automate a tiered discount framework: &lt;= 2 days left (100% Free / Rs. 0.00), 3-7 days left (50% Subsidy), and &gt; 7 days left (0% Subsidy / Standard Price) to incentivize swift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2628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70916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4. Strict Food Safety &amp; Exception Handling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Enforce an unbypassable safety barrier preventing expired food from being distributed, leveraging custom exceptions (ExpiredItemDistributionException) and robust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3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3.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554480"/>
            <a:ext cx="457200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SOFTWARE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Operating System: </a:t>
            </a:r>
            <a:r>
              <a:rPr sz="1100" b="0">
                <a:solidFill>
                  <a:srgbClr val="1E293B"/>
                </a:solidFill>
                <a:latin typeface="Arial"/>
              </a:rPr>
              <a:t>Microsoft Windows 10 / 11 (64-bit), Linux, macOS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Programming Language: </a:t>
            </a:r>
            <a:r>
              <a:rPr sz="1100" b="0">
                <a:solidFill>
                  <a:srgbClr val="1E293B"/>
                </a:solidFill>
                <a:latin typeface="Arial"/>
              </a:rPr>
              <a:t>Java Standard Edition (Java SE 17 / 21 LTS)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GUI Framework: </a:t>
            </a:r>
            <a:r>
              <a:rPr sz="1100" b="0">
                <a:solidFill>
                  <a:srgbClr val="1E293B"/>
                </a:solidFill>
                <a:latin typeface="Arial"/>
              </a:rPr>
              <a:t>Java Swing (JFrame, CardLayout, JTable, AWT Events)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Database Engine: </a:t>
            </a:r>
            <a:r>
              <a:rPr sz="1100" b="0">
                <a:solidFill>
                  <a:srgbClr val="1E293B"/>
                </a:solidFill>
                <a:latin typeface="Arial"/>
              </a:rPr>
              <a:t>SQLite 3.42+ (Zero-configuration file-based DB)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Database Connectivity: </a:t>
            </a:r>
            <a:r>
              <a:rPr sz="1100" b="0">
                <a:solidFill>
                  <a:srgbClr val="1E293B"/>
                </a:solidFill>
                <a:latin typeface="Arial"/>
              </a:rPr>
              <a:t>JDBC (sqlite-jdbc-3.42.0.0.jar driver)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Architecture Pattern: </a:t>
            </a:r>
            <a:r>
              <a:rPr sz="1100" b="0">
                <a:solidFill>
                  <a:srgbClr val="1E293B"/>
                </a:solidFill>
                <a:latin typeface="Arial"/>
              </a:rPr>
              <a:t>Model-View-Controller (MVC)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Development IDE: </a:t>
            </a:r>
            <a:r>
              <a:rPr sz="1100" b="0">
                <a:solidFill>
                  <a:srgbClr val="1E293B"/>
                </a:solidFill>
                <a:latin typeface="Arial"/>
              </a:rPr>
              <a:t>VS Code / Android Studio / IntelliJ IDEA / NetBeans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Build Tooling: </a:t>
            </a:r>
            <a:r>
              <a:rPr sz="1100" b="0">
                <a:solidFill>
                  <a:srgbClr val="1E293B"/>
                </a:solidFill>
                <a:latin typeface="Arial"/>
              </a:rPr>
              <a:t>Native batch scripts (compile.bat, run.bat)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45720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HARDWARE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Processor (CPU): </a:t>
            </a:r>
            <a:r>
              <a:rPr sz="1100" b="0">
                <a:solidFill>
                  <a:srgbClr val="1E293B"/>
                </a:solidFill>
                <a:latin typeface="Arial"/>
              </a:rPr>
              <a:t>Intel Core i3 / AMD Ryzen 3 or higher (Min 2.0 GHz)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System Memory (RAM): </a:t>
            </a:r>
            <a:r>
              <a:rPr sz="1100" b="0">
                <a:solidFill>
                  <a:srgbClr val="1E293B"/>
                </a:solidFill>
                <a:latin typeface="Arial"/>
              </a:rPr>
              <a:t>Minimum: 4 GB RAM | Recommended: 8 GB RAM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Storage (Disk Space): </a:t>
            </a:r>
            <a:r>
              <a:rPr sz="1100" b="0">
                <a:solidFill>
                  <a:srgbClr val="1E293B"/>
                </a:solidFill>
                <a:latin typeface="Arial"/>
              </a:rPr>
              <a:t>Minimum 500 MB free space (Project + SQLite DB &lt; 50 MB)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Display Resolution: </a:t>
            </a:r>
            <a:r>
              <a:rPr sz="1100" b="0">
                <a:solidFill>
                  <a:srgbClr val="1E293B"/>
                </a:solidFill>
                <a:latin typeface="Arial"/>
              </a:rPr>
              <a:t>1280 x 720 (Standard HD) or 1920 x 1080 (Full HD)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Input Devices: </a:t>
            </a:r>
            <a:r>
              <a:rPr sz="1100" b="0">
                <a:solidFill>
                  <a:srgbClr val="1E293B"/>
                </a:solidFill>
                <a:latin typeface="Arial"/>
              </a:rPr>
              <a:t>Standard QWERTY Keyboard and Mouse / Touchpad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Network Requirements: </a:t>
            </a:r>
            <a:r>
              <a:rPr sz="1100" b="0">
                <a:solidFill>
                  <a:srgbClr val="1E293B"/>
                </a:solidFill>
                <a:latin typeface="Arial"/>
              </a:rPr>
              <a:t>None (Fully offline standalone desktop operational capability)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Portability: </a:t>
            </a:r>
            <a:r>
              <a:rPr sz="1100" b="0">
                <a:solidFill>
                  <a:srgbClr val="1E293B"/>
                </a:solidFill>
                <a:latin typeface="Arial"/>
              </a:rPr>
              <a:t>Cross-platform bytecode runnable on any compliant JVM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4.1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4. Design Document: Object-Oriented Class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06 / 10</a:t>
            </a:r>
          </a:p>
        </p:txBody>
      </p:sp>
      <p:pic>
        <p:nvPicPr>
          <p:cNvPr id="6" name="Picture 5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371600"/>
            <a:ext cx="323057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OOP CONCEPTS APPLIED</a:t>
            </a:r>
          </a:p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Encapsulation: </a:t>
            </a:r>
            <a:r>
              <a:rPr b="0">
                <a:solidFill>
                  <a:srgbClr val="1E293B"/>
                </a:solidFill>
              </a:rPr>
              <a:t>FoodItem.java: Private fields with validated getters and setters.</a:t>
            </a:r>
          </a:p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Inheritance: </a:t>
            </a:r>
            <a:r>
              <a:rPr b="0">
                <a:solidFill>
                  <a:srgbClr val="1E293B"/>
                </a:solidFill>
              </a:rPr>
              <a:t>PerishableItem and PackagedItem extend abstract FoodItem via super().</a:t>
            </a:r>
          </a:p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Polymorphism: </a:t>
            </a:r>
            <a:r>
              <a:rPr b="0">
                <a:solidFill>
                  <a:srgbClr val="1E293B"/>
                </a:solidFill>
              </a:rPr>
              <a:t>Dynamic Method Dispatch in getStorageInstructions() &amp; getItemClassification().</a:t>
            </a:r>
          </a:p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Interfaces: </a:t>
            </a:r>
            <a:r>
              <a:rPr b="0">
                <a:solidFill>
                  <a:srgbClr val="1E293B"/>
                </a:solidFill>
              </a:rPr>
              <a:t>InventoryOperations interface defines contract implemented by FoodBankDAO.</a:t>
            </a:r>
          </a:p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Singleton Pattern: </a:t>
            </a:r>
            <a:r>
              <a:rPr b="0">
                <a:solidFill>
                  <a:srgbClr val="1E293B"/>
                </a:solidFill>
              </a:rPr>
              <a:t>DatabaseManager restricts JDBC connection to a single instance.</a:t>
            </a:r>
          </a:p>
          <a:p>
            <a:pPr>
              <a:spcAft>
                <a:spcPts val="4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Exception Handling: </a:t>
            </a:r>
            <a:r>
              <a:rPr b="0">
                <a:solidFill>
                  <a:srgbClr val="1E293B"/>
                </a:solidFill>
              </a:rPr>
              <a:t>Custom checked exceptions: ExpiredItemDistributionException.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4.2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4. Design Document: Relational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07 / 10</a:t>
            </a:r>
          </a:p>
        </p:txBody>
      </p:sp>
      <p:pic>
        <p:nvPicPr>
          <p:cNvPr id="6" name="Picture 5" descr="databas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371600"/>
            <a:ext cx="323057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DATABASE HIGHLIGHTS</a:t>
            </a:r>
          </a:p>
          <a:p>
            <a:pPr>
              <a:spcAft>
                <a:spcPts val="600"/>
              </a:spcAft>
              <a:defRPr sz="1000" b="1">
                <a:solidFill>
                  <a:srgbClr val="1E3A8A"/>
                </a:solidFill>
                <a:latin typeface="Arial"/>
              </a:defRPr>
            </a:pPr>
            <a:r>
              <a:t>• Zero-Configuration: </a:t>
            </a:r>
            <a:r>
              <a:rPr b="0">
                <a:solidFill>
                  <a:srgbClr val="1E293B"/>
                </a:solidFill>
              </a:rPr>
              <a:t>Serverless SQLite engine requires no external installation or daemon setup.</a:t>
            </a:r>
          </a:p>
          <a:p>
            <a:pPr>
              <a:spcAft>
                <a:spcPts val="600"/>
              </a:spcAft>
              <a:defRPr sz="1000" b="1">
                <a:solidFill>
                  <a:srgbClr val="1E3A8A"/>
                </a:solidFill>
                <a:latin typeface="Arial"/>
              </a:defRPr>
            </a:pPr>
            <a:r>
              <a:t>• Normalized Tables: </a:t>
            </a:r>
            <a:r>
              <a:rPr b="0">
                <a:solidFill>
                  <a:srgbClr val="1E293B"/>
                </a:solidFill>
              </a:rPr>
              <a:t>1-to-Many relation connects food_items master table with distribution_records transaction log.</a:t>
            </a:r>
          </a:p>
          <a:p>
            <a:pPr>
              <a:spcAft>
                <a:spcPts val="600"/>
              </a:spcAft>
              <a:defRPr sz="1000" b="1">
                <a:solidFill>
                  <a:srgbClr val="1E3A8A"/>
                </a:solidFill>
                <a:latin typeface="Arial"/>
              </a:defRPr>
            </a:pPr>
            <a:r>
              <a:t>• Atomic Transactions: </a:t>
            </a:r>
            <a:r>
              <a:rPr b="0">
                <a:solidFill>
                  <a:srgbClr val="1E293B"/>
                </a:solidFill>
              </a:rPr>
              <a:t>When food is distributed, stock reduction and audit receipt logging execute in tandem.</a:t>
            </a:r>
          </a:p>
          <a:p>
            <a:pPr>
              <a:spcAft>
                <a:spcPts val="600"/>
              </a:spcAft>
              <a:defRPr sz="1000" b="1">
                <a:solidFill>
                  <a:srgbClr val="1E3A8A"/>
                </a:solidFill>
                <a:latin typeface="Arial"/>
              </a:defRPr>
            </a:pPr>
            <a:r>
              <a:t>• PreparedStatement: </a:t>
            </a:r>
            <a:r>
              <a:rPr b="0">
                <a:solidFill>
                  <a:srgbClr val="1E293B"/>
                </a:solidFill>
              </a:rPr>
              <a:t>All queries use parameterized PreparedStatements preventing SQL injection attacks.</a:t>
            </a:r>
          </a:p>
          <a:p>
            <a:pPr>
              <a:spcAft>
                <a:spcPts val="600"/>
              </a:spcAft>
              <a:defRPr sz="1000" b="1">
                <a:solidFill>
                  <a:srgbClr val="1E3A8A"/>
                </a:solidFill>
                <a:latin typeface="Arial"/>
              </a:defRPr>
            </a:pPr>
            <a:r>
              <a:t>• Audit Integrity: </a:t>
            </a:r>
            <a:r>
              <a:rPr b="0">
                <a:solidFill>
                  <a:srgbClr val="1E293B"/>
                </a:solidFill>
              </a:rPr>
              <a:t>Distribution transactions capture immutable historical price and recipient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5.1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5. Results: Intake &amp; Live Expiry Tracking (Output Screenshots)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08 / 10</a:t>
            </a:r>
          </a:p>
        </p:txBody>
      </p:sp>
      <p:pic>
        <p:nvPicPr>
          <p:cNvPr id="6" name="Picture 5" descr="02_inpu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Module A — Food Donation Intake Interface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Features rigorous input validation (dates, quantities, pricing), item category dropdowns, and dynamic fields based on Perishable vs Packaged item type.</a:t>
            </a:r>
          </a:p>
        </p:txBody>
      </p:sp>
      <p:pic>
        <p:nvPicPr>
          <p:cNvPr id="9" name="Picture 8" descr="01_inventory_tra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49834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Module B — Live Expiry &amp; PDI Urgency Tracker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Displays color-coded badges for Urgency (CRITICAL / URGENT, HIGH, MEDIUM, LOW, EXPIRED), computes PDI Score (0-100), and auto-orders by shelf-life using Bubble Sort.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SECTION 5.2</a:t>
            </a:r>
          </a:p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5. Results: Distribution Billing &amp; Analytics (Output Screenshots)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09 / 10</a:t>
            </a:r>
          </a:p>
        </p:txBody>
      </p:sp>
      <p:pic>
        <p:nvPicPr>
          <p:cNvPr id="6" name="Picture 5" descr="04_distribute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Module D — Dynamic Subsidy Distribution &amp; Billing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Automates tiered subsidy calculation (100% Free / 50% Subsidy / Standard), enforces safety guard blocking expired goods, and renders formatted audit receipts.</a:t>
            </a:r>
          </a:p>
        </p:txBody>
      </p:sp>
      <p:pic>
        <p:nvPicPr>
          <p:cNvPr id="9" name="Picture 8" descr="05_analytic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12064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49834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Module E — Inventory Analytics &amp; Distribution Log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Aggregates 6 key performance indicator cards (Total Items, Available Stock, Urgent Batches, Expired Volume, Total Subsidy Granted) and full audit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SECTION 6</a:t>
            </a:r>
          </a:p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Conclusion, Syllabus Mapping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Arial"/>
              </a:defRPr>
            </a:pPr>
            <a:r>
              <a:t>100%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Zero-Waste Clearance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Near-expiry goods distributed rapidly at 100% subsidy / Rs. 0.00.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371600"/>
            <a:ext cx="2514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4630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Arial"/>
              </a:defRPr>
            </a:pPr>
            <a:r>
              <a:t>35 / 35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Test Verification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All 35 automated unit and integration tests passing successfully.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2514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630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Arial"/>
              </a:defRPr>
            </a:pPr>
            <a:r>
              <a:t>0 Expired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Food Safety Barrier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expired items distributed due to strict exception enforcement.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371600"/>
            <a:ext cx="2514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46304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Arial"/>
              </a:defRPr>
            </a:pPr>
            <a:r>
              <a:t>Full MVC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KTU Syllabus Alignment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Demonstrates Modules 1-4: Abstraction, OOP, Swings, and JDBC.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310896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3C5FD"/>
                </a:solidFill>
                <a:latin typeface="Arial"/>
              </a:defRPr>
            </a:pPr>
            <a:r>
              <a:t>ACADEMIC &amp; PRACTICAL LEARNINGS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Rigorous application of OOP Principles: Abstraction, Hierarchical Inheritance, and Dynamic Method Overriding.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Practical JDBC mastery with SQLite, transactions, and robust Resource Management (try-catch-finally).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Clean GUI design using Java Swing CardLayout, custom JTable cell renderers, and Delegation Event handling.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Algorithmic thinking: Priority Distribution Index (PDI) scoring directly solving real-world food logistics waste.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3108960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EEAD4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Barcode &amp; QR Code Scanning: Integration with USB barcode readers for instant donation intake.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SMS &amp; Push Notifications: Automated alerts to partner charities when items enter the 100% Free tier.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Cloud Sync &amp; Multi-Branch Support: Migration to cloud database (PostgreSQL) for multi-location food banks.</a:t>
            </a:r>
          </a:p>
          <a:p>
            <a:pPr>
              <a:spcAft>
                <a:spcPts val="400"/>
              </a:spcAft>
              <a:defRPr sz="1000">
                <a:solidFill>
                  <a:srgbClr val="F1F5F9"/>
                </a:solidFill>
              </a:defRPr>
            </a:pPr>
            <a:r>
              <a:t>• AI-Driven Demand Forecasting: Machine learning models predicting demand cycles to optimize inventory.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